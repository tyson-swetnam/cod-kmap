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0" r:id="rId2"/>
    <p:sldId id="257" r:id="rId3"/>
    <p:sldId id="263" r:id="rId4"/>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lliam G.Ambrose" initials="WG" lastIdx="11" clrIdx="0">
    <p:extLst>
      <p:ext uri="{19B8F6BF-5375-455C-9EA6-DF929625EA0E}">
        <p15:presenceInfo xmlns:p15="http://schemas.microsoft.com/office/powerpoint/2012/main" userId="4144fd3cab2ae67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61"/>
    <p:restoredTop sz="96327"/>
  </p:normalViewPr>
  <p:slideViewPr>
    <p:cSldViewPr snapToGrid="0" snapToObjects="1">
      <p:cViewPr>
        <p:scale>
          <a:sx n="222" d="100"/>
          <a:sy n="222" d="100"/>
        </p:scale>
        <p:origin x="65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2516543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635951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B8AE41-AB94-A54C-8877-C21B05DF4E72}" type="datetimeFigureOut">
              <a:rPr lang="en-US" smtClean="0"/>
              <a:t>5/27/22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99339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B8AE41-AB94-A54C-8877-C21B05DF4E72}" type="datetimeFigureOut">
              <a:rPr lang="en-US" smtClean="0"/>
              <a:t>5/27/22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2450469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B8AE41-AB94-A54C-8877-C21B05DF4E72}" type="datetimeFigureOut">
              <a:rPr lang="en-US" smtClean="0"/>
              <a:t>5/27/22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301185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B8AE41-AB94-A54C-8877-C21B05DF4E72}" type="datetimeFigureOut">
              <a:rPr lang="en-US" smtClean="0"/>
              <a:t>5/27/22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952561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8AE41-AB94-A54C-8877-C21B05DF4E72}" type="datetimeFigureOut">
              <a:rPr lang="en-US" smtClean="0"/>
              <a:t>5/27/22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36449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1B8AE41-AB94-A54C-8877-C21B05DF4E72}" type="datetimeFigureOut">
              <a:rPr lang="en-US" smtClean="0"/>
              <a:t>5/27/22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30351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1B8AE41-AB94-A54C-8877-C21B05DF4E72}" type="datetimeFigureOut">
              <a:rPr lang="en-US" smtClean="0"/>
              <a:t>5/27/22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2956431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196737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B8AE41-AB94-A54C-8877-C21B05DF4E72}" type="datetimeFigureOut">
              <a:rPr lang="en-US" smtClean="0"/>
              <a:t>5/27/22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F0CE54-25D9-0848-A000-D4777F11288E}" type="slidenum">
              <a:rPr lang="en-US" smtClean="0"/>
              <a:t>‹#›</a:t>
            </a:fld>
            <a:endParaRPr lang="en-US"/>
          </a:p>
        </p:txBody>
      </p:sp>
    </p:spTree>
    <p:extLst>
      <p:ext uri="{BB962C8B-B14F-4D97-AF65-F5344CB8AC3E}">
        <p14:creationId xmlns:p14="http://schemas.microsoft.com/office/powerpoint/2010/main" val="426355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B1B8AE41-AB94-A54C-8877-C21B05DF4E72}" type="datetimeFigureOut">
              <a:rPr lang="en-US" smtClean="0"/>
              <a:t>5/27/22</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2AF0CE54-25D9-0848-A000-D4777F11288E}" type="slidenum">
              <a:rPr lang="en-US" smtClean="0"/>
              <a:t>‹#›</a:t>
            </a:fld>
            <a:endParaRPr lang="en-US"/>
          </a:p>
        </p:txBody>
      </p:sp>
    </p:spTree>
    <p:extLst>
      <p:ext uri="{BB962C8B-B14F-4D97-AF65-F5344CB8AC3E}">
        <p14:creationId xmlns:p14="http://schemas.microsoft.com/office/powerpoint/2010/main" val="3845488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10" Type="http://schemas.openxmlformats.org/officeDocument/2006/relationships/image" Target="../media/image9.emf"/><Relationship Id="rId4" Type="http://schemas.openxmlformats.org/officeDocument/2006/relationships/image" Target="../media/image3.jp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DB55062A-A37D-1EAC-E737-ECB751F0640F}"/>
              </a:ext>
            </a:extLst>
          </p:cNvPr>
          <p:cNvSpPr txBox="1"/>
          <p:nvPr/>
        </p:nvSpPr>
        <p:spPr>
          <a:xfrm>
            <a:off x="252606" y="5114717"/>
            <a:ext cx="6353148" cy="3208571"/>
          </a:xfrm>
          <a:prstGeom prst="rect">
            <a:avLst/>
          </a:prstGeom>
          <a:noFill/>
        </p:spPr>
        <p:txBody>
          <a:bodyPr wrap="square">
            <a:spAutoFit/>
          </a:bodyPr>
          <a:lstStyle/>
          <a:p>
            <a:pPr algn="ctr">
              <a:spcAft>
                <a:spcPts val="300"/>
              </a:spcAft>
            </a:pPr>
            <a:r>
              <a:rPr lang="en-US" sz="1200" b="1" dirty="0">
                <a:latin typeface="Arial" panose="020B0604020202020204" pitchFamily="34" charset="0"/>
                <a:cs typeface="Arial" panose="020B0604020202020204" pitchFamily="34" charset="0"/>
              </a:rPr>
              <a:t>Clemson Belle Baruch Coastal Infrastructure Workshop</a:t>
            </a:r>
          </a:p>
          <a:p>
            <a:pPr algn="ctr">
              <a:spcAft>
                <a:spcPts val="600"/>
              </a:spcAft>
            </a:pPr>
            <a:r>
              <a:rPr lang="en-US" sz="1100" dirty="0">
                <a:latin typeface="Arial" panose="020B0604020202020204" pitchFamily="34" charset="0"/>
                <a:cs typeface="Arial" panose="020B0604020202020204" pitchFamily="34" charset="0"/>
              </a:rPr>
              <a:t>This effort builds upon a workshop held in 2019, in which a draft conceptual framework for a Coastal Observatory was developed.  Broad attendance that included NSF, NOAA NEERS, DHS, Coastal Guard, Sea Grant, USGCRP IWG, and a broad range of scientific expertise.</a:t>
            </a:r>
          </a:p>
          <a:p>
            <a:pPr algn="ctr">
              <a:spcAft>
                <a:spcPts val="300"/>
              </a:spcAft>
            </a:pPr>
            <a:r>
              <a:rPr lang="en-US" sz="1100" b="1" dirty="0">
                <a:latin typeface="Arial" panose="020B0604020202020204" pitchFamily="34" charset="0"/>
                <a:cs typeface="Arial" panose="020B0604020202020204" pitchFamily="34" charset="0"/>
              </a:rPr>
              <a:t>E</a:t>
            </a:r>
            <a:r>
              <a:rPr lang="en-US" sz="1200" b="1" dirty="0">
                <a:latin typeface="Arial" panose="020B0604020202020204" pitchFamily="34" charset="0"/>
                <a:cs typeface="Arial" panose="020B0604020202020204" pitchFamily="34" charset="0"/>
              </a:rPr>
              <a:t>xperienced Team to Scope Infrastructure</a:t>
            </a:r>
          </a:p>
          <a:p>
            <a:pPr algn="ctr">
              <a:spcAft>
                <a:spcPts val="600"/>
              </a:spcAft>
            </a:pPr>
            <a:r>
              <a:rPr lang="en-US" sz="1100" dirty="0">
                <a:latin typeface="Arial" panose="020B0604020202020204" pitchFamily="34" charset="0"/>
                <a:cs typeface="Arial" panose="020B0604020202020204" pitchFamily="34" charset="0"/>
              </a:rPr>
              <a:t>The Core Science Team (&gt; 40 Participants) and Formal Project Management (PMP) team (&gt;10 Participants) have been meeting regularly since Nov 21.  We expect these teams to grow and include new partnerships.  Experienced in scoping infrastructure within NSF (NEON, CMO, others) and globally (GERI).  This Team has working relationship with the NSF Large Facility Office, and the G7 Group of Senior Advisors for Research Infrastructure (GSO).  We employ a State-of-the-Art System Engineering Approach that is based on a dynamic model framework.</a:t>
            </a:r>
          </a:p>
          <a:p>
            <a:pPr algn="ctr">
              <a:spcAft>
                <a:spcPts val="300"/>
              </a:spcAft>
            </a:pPr>
            <a:r>
              <a:rPr lang="en-US" sz="1200" b="1" dirty="0">
                <a:latin typeface="Arial" panose="020B0604020202020204" pitchFamily="34" charset="0"/>
                <a:cs typeface="Arial" panose="020B0604020202020204" pitchFamily="34" charset="0"/>
              </a:rPr>
              <a:t>Aligned with the recommendations in National Academy Reports</a:t>
            </a:r>
          </a:p>
          <a:p>
            <a:pPr marL="171450" indent="-171450">
              <a:spcAft>
                <a:spcPts val="300"/>
              </a:spcAft>
              <a:buFont typeface="Arial" panose="020B0604020202020204" pitchFamily="34" charset="0"/>
              <a:buChar char="•"/>
            </a:pPr>
            <a:r>
              <a:rPr lang="en-US" sz="1100" dirty="0">
                <a:latin typeface="Arial" panose="020B0604020202020204" pitchFamily="34" charset="0"/>
                <a:cs typeface="Arial" panose="020B0604020202020204" pitchFamily="34" charset="0"/>
              </a:rPr>
              <a:t>NSF-supported: Next Generation of Earth Systems Science (2021)</a:t>
            </a:r>
          </a:p>
          <a:p>
            <a:pPr marL="171450" indent="-171450">
              <a:spcAft>
                <a:spcPts val="300"/>
              </a:spcAft>
              <a:buFont typeface="Arial" panose="020B0604020202020204" pitchFamily="34" charset="0"/>
              <a:buChar char="•"/>
            </a:pPr>
            <a:r>
              <a:rPr lang="en-US" sz="1100" dirty="0">
                <a:latin typeface="Arial" panose="020B0604020202020204" pitchFamily="34" charset="0"/>
                <a:cs typeface="Arial" panose="020B0604020202020204" pitchFamily="34" charset="0"/>
              </a:rPr>
              <a:t>NSF-supported: Catalyzing Opportunities for Research in the Earth Sciences (CORES): Decadal Survey (2020)</a:t>
            </a:r>
          </a:p>
          <a:p>
            <a:pPr indent="-228600">
              <a:spcAft>
                <a:spcPts val="300"/>
              </a:spcAft>
            </a:pPr>
            <a:endParaRPr lang="en-US" sz="1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3BE1FD8-F384-2944-8FC9-F1FE977BD174}"/>
              </a:ext>
            </a:extLst>
          </p:cNvPr>
          <p:cNvSpPr txBox="1"/>
          <p:nvPr/>
        </p:nvSpPr>
        <p:spPr>
          <a:xfrm>
            <a:off x="48984" y="8439755"/>
            <a:ext cx="2619628" cy="707886"/>
          </a:xfrm>
          <a:prstGeom prst="rect">
            <a:avLst/>
          </a:prstGeom>
          <a:noFill/>
        </p:spPr>
        <p:txBody>
          <a:bodyPr wrap="none" rtlCol="0">
            <a:spAutoFit/>
          </a:bodyPr>
          <a:lstStyle/>
          <a:p>
            <a:r>
              <a:rPr lang="en-US" sz="800" dirty="0"/>
              <a:t>Contact:</a:t>
            </a:r>
          </a:p>
          <a:p>
            <a:r>
              <a:rPr lang="en-US" sz="800" dirty="0"/>
              <a:t>Skip Van </a:t>
            </a:r>
            <a:r>
              <a:rPr lang="en-US" sz="800" dirty="0" err="1"/>
              <a:t>Bloem</a:t>
            </a:r>
            <a:r>
              <a:rPr lang="en-US" sz="800" dirty="0"/>
              <a:t>, Clemson U, </a:t>
            </a:r>
            <a:r>
              <a:rPr lang="en-US" sz="800" dirty="0" err="1"/>
              <a:t>skipvb@clemson.edu</a:t>
            </a:r>
            <a:r>
              <a:rPr lang="en-US" sz="800" dirty="0"/>
              <a:t> </a:t>
            </a:r>
          </a:p>
          <a:p>
            <a:r>
              <a:rPr lang="en-US" sz="800" dirty="0"/>
              <a:t>Nirav Merchant, U Arizona, </a:t>
            </a:r>
            <a:r>
              <a:rPr lang="en-US" sz="800" dirty="0" err="1"/>
              <a:t>nirav@email.arizona.edu</a:t>
            </a:r>
            <a:r>
              <a:rPr lang="en-US" sz="800" dirty="0"/>
              <a:t> </a:t>
            </a:r>
          </a:p>
          <a:p>
            <a:r>
              <a:rPr lang="en-US" sz="800" dirty="0"/>
              <a:t>Will Ambrose, Coastal Carolina U, </a:t>
            </a:r>
            <a:r>
              <a:rPr lang="en-US" sz="800" dirty="0" err="1"/>
              <a:t>wambrose@coastal.edu</a:t>
            </a:r>
            <a:endParaRPr lang="en-US" sz="800" dirty="0"/>
          </a:p>
          <a:p>
            <a:r>
              <a:rPr lang="en-US" sz="800" dirty="0"/>
              <a:t>Hank Loescher, Battelle, </a:t>
            </a:r>
            <a:r>
              <a:rPr lang="en-US" sz="800" dirty="0" err="1"/>
              <a:t>hloescher@battelleecology.org</a:t>
            </a:r>
            <a:endParaRPr lang="en-US" sz="800" dirty="0"/>
          </a:p>
        </p:txBody>
      </p:sp>
      <p:pic>
        <p:nvPicPr>
          <p:cNvPr id="1026" name="Picture 2" descr="Battelle Logo - LogoDix">
            <a:extLst>
              <a:ext uri="{FF2B5EF4-FFF2-40B4-BE49-F238E27FC236}">
                <a16:creationId xmlns:a16="http://schemas.microsoft.com/office/drawing/2014/main" id="{1AC59B51-9F96-9B4D-B762-7DB0D1A11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402" y="8815690"/>
            <a:ext cx="1026868" cy="1751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30A5868-CE1F-7647-8997-5A06050A2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1947" y="8373759"/>
            <a:ext cx="703866" cy="703866"/>
          </a:xfrm>
          <a:prstGeom prst="rect">
            <a:avLst/>
          </a:prstGeom>
        </p:spPr>
      </p:pic>
      <p:cxnSp>
        <p:nvCxnSpPr>
          <p:cNvPr id="7" name="Straight Connector 6">
            <a:extLst>
              <a:ext uri="{FF2B5EF4-FFF2-40B4-BE49-F238E27FC236}">
                <a16:creationId xmlns:a16="http://schemas.microsoft.com/office/drawing/2014/main" id="{465B4D9B-5148-AD47-894E-03660918ADC2}"/>
              </a:ext>
            </a:extLst>
          </p:cNvPr>
          <p:cNvCxnSpPr>
            <a:cxnSpLocks/>
          </p:cNvCxnSpPr>
          <p:nvPr/>
        </p:nvCxnSpPr>
        <p:spPr>
          <a:xfrm>
            <a:off x="114300" y="8316686"/>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9E5254C-8283-0B48-BABE-C4919A94395A}"/>
              </a:ext>
            </a:extLst>
          </p:cNvPr>
          <p:cNvCxnSpPr>
            <a:cxnSpLocks/>
          </p:cNvCxnSpPr>
          <p:nvPr/>
        </p:nvCxnSpPr>
        <p:spPr>
          <a:xfrm>
            <a:off x="114300" y="831504"/>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1CDDC2E-F4AD-0F4D-9185-119B9C0D6BA0}"/>
              </a:ext>
            </a:extLst>
          </p:cNvPr>
          <p:cNvSpPr txBox="1"/>
          <p:nvPr/>
        </p:nvSpPr>
        <p:spPr>
          <a:xfrm>
            <a:off x="1583871" y="153181"/>
            <a:ext cx="4980215" cy="646331"/>
          </a:xfrm>
          <a:prstGeom prst="rect">
            <a:avLst/>
          </a:prstGeom>
          <a:noFill/>
        </p:spPr>
        <p:txBody>
          <a:bodyPr wrap="square" rtlCol="0">
            <a:spAutoFit/>
          </a:bodyPr>
          <a:lstStyle/>
          <a:p>
            <a:pPr algn="ctr"/>
            <a:r>
              <a:rPr lang="en-US" dirty="0">
                <a:solidFill>
                  <a:srgbClr val="0070C0"/>
                </a:solidFill>
                <a:latin typeface="Avenir" panose="02000503020000020003" pitchFamily="2" charset="0"/>
              </a:rPr>
              <a:t>OPPORTUNITY: NSF MID-SCALE R1 INFRASTRUCTURE PROPOSAL (NSF 21-505)</a:t>
            </a:r>
          </a:p>
        </p:txBody>
      </p:sp>
      <p:pic>
        <p:nvPicPr>
          <p:cNvPr id="18" name="Picture 17" descr="Diagram&#10;&#10;Description automatically generated with medium confidence">
            <a:extLst>
              <a:ext uri="{FF2B5EF4-FFF2-40B4-BE49-F238E27FC236}">
                <a16:creationId xmlns:a16="http://schemas.microsoft.com/office/drawing/2014/main" id="{4028CD8D-BB34-D845-9B3F-EF6C38BEE46D}"/>
              </a:ext>
            </a:extLst>
          </p:cNvPr>
          <p:cNvPicPr>
            <a:picLocks noChangeAspect="1"/>
          </p:cNvPicPr>
          <p:nvPr/>
        </p:nvPicPr>
        <p:blipFill>
          <a:blip r:embed="rId4"/>
          <a:stretch>
            <a:fillRect/>
          </a:stretch>
        </p:blipFill>
        <p:spPr>
          <a:xfrm>
            <a:off x="394021" y="62847"/>
            <a:ext cx="695837" cy="695837"/>
          </a:xfrm>
          <a:prstGeom prst="rect">
            <a:avLst/>
          </a:prstGeom>
        </p:spPr>
      </p:pic>
      <p:sp>
        <p:nvSpPr>
          <p:cNvPr id="21" name="TextBox 20">
            <a:extLst>
              <a:ext uri="{FF2B5EF4-FFF2-40B4-BE49-F238E27FC236}">
                <a16:creationId xmlns:a16="http://schemas.microsoft.com/office/drawing/2014/main" id="{ECA2A9C1-004E-E345-B6E4-030105CFFA46}"/>
              </a:ext>
            </a:extLst>
          </p:cNvPr>
          <p:cNvSpPr txBox="1"/>
          <p:nvPr/>
        </p:nvSpPr>
        <p:spPr>
          <a:xfrm>
            <a:off x="114301" y="4587392"/>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latin typeface="Avenir" panose="02000503020000020003" pitchFamily="2" charset="0"/>
              </a:rPr>
              <a:t>Background</a:t>
            </a:r>
          </a:p>
        </p:txBody>
      </p:sp>
      <p:sp>
        <p:nvSpPr>
          <p:cNvPr id="25" name="TextBox 24">
            <a:extLst>
              <a:ext uri="{FF2B5EF4-FFF2-40B4-BE49-F238E27FC236}">
                <a16:creationId xmlns:a16="http://schemas.microsoft.com/office/drawing/2014/main" id="{11FB8FE3-EA71-B47B-E581-58CECD5ED05B}"/>
              </a:ext>
            </a:extLst>
          </p:cNvPr>
          <p:cNvSpPr txBox="1"/>
          <p:nvPr/>
        </p:nvSpPr>
        <p:spPr>
          <a:xfrm>
            <a:off x="2278589" y="1330239"/>
            <a:ext cx="4609597" cy="3131627"/>
          </a:xfrm>
          <a:prstGeom prst="rect">
            <a:avLst/>
          </a:prstGeom>
          <a:noFill/>
        </p:spPr>
        <p:txBody>
          <a:bodyPr wrap="square">
            <a:spAutoFit/>
          </a:bodyPr>
          <a:lstStyle/>
          <a:p>
            <a:pPr lvl="1">
              <a:spcBef>
                <a:spcPts val="300"/>
              </a:spcBef>
              <a:spcAft>
                <a:spcPts val="0"/>
              </a:spcAft>
              <a:buSzTx/>
              <a:defRPr/>
            </a:pPr>
            <a:r>
              <a:rPr lang="en-US" sz="1100" b="1" i="1" dirty="0">
                <a:latin typeface="Arial" panose="020B0604020202020204" pitchFamily="34" charset="0"/>
                <a:cs typeface="Arial" panose="020B0604020202020204" pitchFamily="34" charset="0"/>
              </a:rPr>
              <a:t>Currently no NSF Coastal Observatory in the US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&gt;40% of Americans live in coastal shoreline counties </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~50% of US economy is based in coastal areas.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Natural, managed, and socioeconomic coastal systems are subjected to complex interacting stresses </a:t>
            </a:r>
          </a:p>
          <a:p>
            <a:pPr lvl="1">
              <a:spcBef>
                <a:spcPts val="300"/>
              </a:spcBef>
              <a:spcAft>
                <a:spcPts val="0"/>
              </a:spcAft>
              <a:buSzTx/>
              <a:defRPr/>
            </a:pPr>
            <a:r>
              <a:rPr lang="en-US" sz="1100" b="1" i="1" dirty="0">
                <a:latin typeface="Arial" panose="020B0604020202020204" pitchFamily="34" charset="0"/>
                <a:cs typeface="Arial" panose="020B0604020202020204" pitchFamily="34" charset="0"/>
              </a:rPr>
              <a:t>Propose a Process to Design a Coastal Observatory</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Build upon prior workshops, position papers, and capabilities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Inclusion of other networks, and agency programs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Continental in scale</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Design to better understand changing coastal processes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Inclusion of a social dimension is critical</a:t>
            </a:r>
          </a:p>
          <a:p>
            <a:pPr lvl="1">
              <a:spcBef>
                <a:spcPts val="300"/>
              </a:spcBef>
              <a:spcAft>
                <a:spcPts val="0"/>
              </a:spcAft>
              <a:buSzTx/>
              <a:defRPr/>
            </a:pPr>
            <a:r>
              <a:rPr lang="en-US" sz="1100" b="1" i="1" dirty="0">
                <a:latin typeface="Arial" panose="020B0604020202020204" pitchFamily="34" charset="0"/>
                <a:cs typeface="Arial" panose="020B0604020202020204" pitchFamily="34" charset="0"/>
              </a:rPr>
              <a:t>Workforce pipeline for underserved communities</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Design a workforce pipeline for the observatory </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Prototype workforce pipeline in context of the proposal</a:t>
            </a:r>
          </a:p>
          <a:p>
            <a:pPr marL="628650" lvl="1" indent="-171450">
              <a:spcBef>
                <a:spcPts val="300"/>
              </a:spcBef>
              <a:spcAft>
                <a:spcPts val="0"/>
              </a:spcAft>
              <a:buSzTx/>
              <a:buFont typeface="Arial" panose="020B0604020202020204" pitchFamily="34" charset="0"/>
              <a:buChar char="•"/>
              <a:defRPr/>
            </a:pPr>
            <a:r>
              <a:rPr lang="en-US" sz="1100" dirty="0">
                <a:latin typeface="Arial" panose="020B0604020202020204" pitchFamily="34" charset="0"/>
                <a:cs typeface="Arial" panose="020B0604020202020204" pitchFamily="34" charset="0"/>
              </a:rPr>
              <a:t>Education and training focused on DEIJ</a:t>
            </a:r>
          </a:p>
        </p:txBody>
      </p:sp>
      <p:sp>
        <p:nvSpPr>
          <p:cNvPr id="3" name="TextBox 2">
            <a:extLst>
              <a:ext uri="{FF2B5EF4-FFF2-40B4-BE49-F238E27FC236}">
                <a16:creationId xmlns:a16="http://schemas.microsoft.com/office/drawing/2014/main" id="{B5826B9B-A75B-FB32-7C7A-A5DA4D214E8D}"/>
              </a:ext>
            </a:extLst>
          </p:cNvPr>
          <p:cNvSpPr txBox="1"/>
          <p:nvPr/>
        </p:nvSpPr>
        <p:spPr>
          <a:xfrm>
            <a:off x="2720584" y="943559"/>
            <a:ext cx="3903633" cy="369332"/>
          </a:xfrm>
          <a:prstGeom prst="rect">
            <a:avLst/>
          </a:prstGeom>
          <a:noFill/>
        </p:spPr>
        <p:txBody>
          <a:bodyPr wrap="none" rtlCol="0">
            <a:spAutoFit/>
          </a:bodyPr>
          <a:lstStyle/>
          <a:p>
            <a:pPr algn="ctr"/>
            <a:r>
              <a:rPr lang="en-US" b="1" dirty="0">
                <a:latin typeface="Arial" panose="020B0604020202020204" pitchFamily="34" charset="0"/>
                <a:cs typeface="Arial" panose="020B0604020202020204" pitchFamily="34" charset="0"/>
              </a:rPr>
              <a:t>Coastal Critical Zone Observatory</a:t>
            </a:r>
          </a:p>
        </p:txBody>
      </p:sp>
      <p:pic>
        <p:nvPicPr>
          <p:cNvPr id="17" name="Picture 16" descr="A body of water with trees and a sunny day&#10;&#10;Description automatically generated with low confidence">
            <a:extLst>
              <a:ext uri="{FF2B5EF4-FFF2-40B4-BE49-F238E27FC236}">
                <a16:creationId xmlns:a16="http://schemas.microsoft.com/office/drawing/2014/main" id="{BBEEF37C-58C2-2D42-A49A-2E2225A688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752" y="2687306"/>
            <a:ext cx="2423918" cy="1817939"/>
          </a:xfrm>
          <a:prstGeom prst="rect">
            <a:avLst/>
          </a:prstGeom>
        </p:spPr>
      </p:pic>
      <p:pic>
        <p:nvPicPr>
          <p:cNvPr id="20" name="Picture 19" descr="Logo&#10;&#10;Description automatically generated">
            <a:extLst>
              <a:ext uri="{FF2B5EF4-FFF2-40B4-BE49-F238E27FC236}">
                <a16:creationId xmlns:a16="http://schemas.microsoft.com/office/drawing/2014/main" id="{EF3CF581-0254-714D-8E16-D5D5CB99CFB2}"/>
              </a:ext>
            </a:extLst>
          </p:cNvPr>
          <p:cNvPicPr>
            <a:picLocks noChangeAspect="1"/>
          </p:cNvPicPr>
          <p:nvPr/>
        </p:nvPicPr>
        <p:blipFill>
          <a:blip r:embed="rId6"/>
          <a:stretch>
            <a:fillRect/>
          </a:stretch>
        </p:blipFill>
        <p:spPr>
          <a:xfrm>
            <a:off x="2547974" y="8305046"/>
            <a:ext cx="1218671" cy="609336"/>
          </a:xfrm>
          <a:prstGeom prst="rect">
            <a:avLst/>
          </a:prstGeom>
        </p:spPr>
      </p:pic>
      <p:pic>
        <p:nvPicPr>
          <p:cNvPr id="5" name="Picture 4">
            <a:extLst>
              <a:ext uri="{FF2B5EF4-FFF2-40B4-BE49-F238E27FC236}">
                <a16:creationId xmlns:a16="http://schemas.microsoft.com/office/drawing/2014/main" id="{B279A645-8568-5947-8064-A33C55BCAA75}"/>
              </a:ext>
            </a:extLst>
          </p:cNvPr>
          <p:cNvPicPr>
            <a:picLocks noChangeAspect="1"/>
          </p:cNvPicPr>
          <p:nvPr/>
        </p:nvPicPr>
        <p:blipFill>
          <a:blip r:embed="rId7"/>
          <a:stretch>
            <a:fillRect/>
          </a:stretch>
        </p:blipFill>
        <p:spPr>
          <a:xfrm>
            <a:off x="6166735" y="8446966"/>
            <a:ext cx="557420" cy="557420"/>
          </a:xfrm>
          <a:prstGeom prst="rect">
            <a:avLst/>
          </a:prstGeom>
        </p:spPr>
      </p:pic>
      <p:pic>
        <p:nvPicPr>
          <p:cNvPr id="23" name="Picture 22" descr="Logo&#10;&#10;Description automatically generated">
            <a:extLst>
              <a:ext uri="{FF2B5EF4-FFF2-40B4-BE49-F238E27FC236}">
                <a16:creationId xmlns:a16="http://schemas.microsoft.com/office/drawing/2014/main" id="{509C6849-84C6-264B-9BB8-4DF0FD6E4CC1}"/>
              </a:ext>
            </a:extLst>
          </p:cNvPr>
          <p:cNvPicPr>
            <a:picLocks noChangeAspect="1"/>
          </p:cNvPicPr>
          <p:nvPr/>
        </p:nvPicPr>
        <p:blipFill>
          <a:blip r:embed="rId8"/>
          <a:stretch>
            <a:fillRect/>
          </a:stretch>
        </p:blipFill>
        <p:spPr>
          <a:xfrm>
            <a:off x="4454407" y="8499296"/>
            <a:ext cx="1070250" cy="454234"/>
          </a:xfrm>
          <a:prstGeom prst="rect">
            <a:avLst/>
          </a:prstGeom>
        </p:spPr>
      </p:pic>
      <p:pic>
        <p:nvPicPr>
          <p:cNvPr id="12" name="Picture 11" descr="Logo&#10;&#10;Description automatically generated">
            <a:extLst>
              <a:ext uri="{FF2B5EF4-FFF2-40B4-BE49-F238E27FC236}">
                <a16:creationId xmlns:a16="http://schemas.microsoft.com/office/drawing/2014/main" id="{E55060F1-CC03-A143-8B6D-9E57DF14347F}"/>
              </a:ext>
            </a:extLst>
          </p:cNvPr>
          <p:cNvPicPr>
            <a:picLocks noChangeAspect="1"/>
          </p:cNvPicPr>
          <p:nvPr/>
        </p:nvPicPr>
        <p:blipFill>
          <a:blip r:embed="rId9"/>
          <a:stretch>
            <a:fillRect/>
          </a:stretch>
        </p:blipFill>
        <p:spPr>
          <a:xfrm>
            <a:off x="5541896" y="8595769"/>
            <a:ext cx="575906" cy="267011"/>
          </a:xfrm>
          <a:prstGeom prst="rect">
            <a:avLst/>
          </a:prstGeom>
        </p:spPr>
      </p:pic>
      <p:pic>
        <p:nvPicPr>
          <p:cNvPr id="4" name="Picture 3">
            <a:extLst>
              <a:ext uri="{FF2B5EF4-FFF2-40B4-BE49-F238E27FC236}">
                <a16:creationId xmlns:a16="http://schemas.microsoft.com/office/drawing/2014/main" id="{D57BAEAC-2612-3B43-90A0-2FF259D596A9}"/>
              </a:ext>
            </a:extLst>
          </p:cNvPr>
          <p:cNvPicPr>
            <a:picLocks noChangeAspect="1"/>
          </p:cNvPicPr>
          <p:nvPr/>
        </p:nvPicPr>
        <p:blipFill>
          <a:blip r:embed="rId10"/>
          <a:stretch>
            <a:fillRect/>
          </a:stretch>
        </p:blipFill>
        <p:spPr>
          <a:xfrm>
            <a:off x="80586" y="1083486"/>
            <a:ext cx="2619628" cy="1473541"/>
          </a:xfrm>
          <a:prstGeom prst="rect">
            <a:avLst/>
          </a:prstGeom>
        </p:spPr>
      </p:pic>
    </p:spTree>
    <p:extLst>
      <p:ext uri="{BB962C8B-B14F-4D97-AF65-F5344CB8AC3E}">
        <p14:creationId xmlns:p14="http://schemas.microsoft.com/office/powerpoint/2010/main" val="2387932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D6D168F-E779-7A36-993B-5C4DDA231090}"/>
              </a:ext>
            </a:extLst>
          </p:cNvPr>
          <p:cNvSpPr txBox="1"/>
          <p:nvPr/>
        </p:nvSpPr>
        <p:spPr>
          <a:xfrm>
            <a:off x="131638" y="1563355"/>
            <a:ext cx="3193297" cy="3370153"/>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R1 Design Proposal</a:t>
            </a:r>
          </a:p>
          <a:p>
            <a:pPr marL="342900" indent="-111125"/>
            <a:r>
              <a:rPr lang="en-US" sz="1100" dirty="0">
                <a:latin typeface="Arial" panose="020B0604020202020204" pitchFamily="34" charset="0"/>
                <a:cs typeface="Arial" panose="020B0604020202020204" pitchFamily="34" charset="0"/>
              </a:rPr>
              <a:t>Period of Performance =  3 years</a:t>
            </a:r>
          </a:p>
          <a:p>
            <a:pPr marL="342900" indent="-111125">
              <a:spcAft>
                <a:spcPts val="600"/>
              </a:spcAft>
            </a:pPr>
            <a:r>
              <a:rPr lang="en-US" sz="1100" dirty="0">
                <a:latin typeface="Arial" panose="020B0604020202020204" pitchFamily="34" charset="0"/>
                <a:cs typeface="Arial" panose="020B0604020202020204" pitchFamily="34" charset="0"/>
              </a:rPr>
              <a:t>To include Physical, Information, and Support Infrastructure, and Workforce Pipeline for underserved groups.  </a:t>
            </a:r>
          </a:p>
          <a:p>
            <a:pPr marL="231775" indent="-225425"/>
            <a:r>
              <a:rPr lang="en-US" sz="1100" b="1" dirty="0">
                <a:latin typeface="Arial" panose="020B0604020202020204" pitchFamily="34" charset="0"/>
                <a:cs typeface="Arial" panose="020B0604020202020204" pitchFamily="34" charset="0"/>
              </a:rPr>
              <a:t>Many Competing Coastal Research Interests</a:t>
            </a:r>
          </a:p>
          <a:p>
            <a:pPr marL="342900" indent="-111125"/>
            <a:r>
              <a:rPr lang="en-US" sz="1100" dirty="0">
                <a:latin typeface="Arial" panose="020B0604020202020204" pitchFamily="34" charset="0"/>
                <a:cs typeface="Arial" panose="020B0604020202020204" pitchFamily="34" charset="0"/>
              </a:rPr>
              <a:t>Research and Agency Programs</a:t>
            </a:r>
          </a:p>
          <a:p>
            <a:pPr marL="342900" indent="-111125"/>
            <a:r>
              <a:rPr lang="en-US" sz="1100" dirty="0">
                <a:latin typeface="Arial" panose="020B0604020202020204" pitchFamily="34" charset="0"/>
                <a:cs typeface="Arial" panose="020B0604020202020204" pitchFamily="34" charset="0"/>
              </a:rPr>
              <a:t>Observatory design primarily focused on place-based approaches is no longer novel</a:t>
            </a:r>
          </a:p>
          <a:p>
            <a:pPr marL="342900" indent="-111125">
              <a:spcAft>
                <a:spcPts val="600"/>
              </a:spcAft>
            </a:pPr>
            <a:r>
              <a:rPr lang="en-US" sz="1100" dirty="0">
                <a:latin typeface="Arial" panose="020B0604020202020204" pitchFamily="34" charset="0"/>
                <a:cs typeface="Arial" panose="020B0604020202020204" pitchFamily="34" charset="0"/>
              </a:rPr>
              <a:t>Previous attempts for a coastal observatory failed because of this</a:t>
            </a:r>
            <a:r>
              <a:rPr lang="en-US" sz="1100" b="1" dirty="0">
                <a:latin typeface="Arial" panose="020B0604020202020204" pitchFamily="34" charset="0"/>
                <a:cs typeface="Arial" panose="020B0604020202020204" pitchFamily="34" charset="0"/>
              </a:rPr>
              <a:t>.</a:t>
            </a:r>
          </a:p>
          <a:p>
            <a:pPr indent="4763"/>
            <a:r>
              <a:rPr lang="en-US" sz="1100" b="1" dirty="0">
                <a:latin typeface="Arial" panose="020B0604020202020204" pitchFamily="34" charset="0"/>
                <a:cs typeface="Arial" panose="020B0604020202020204" pitchFamily="34" charset="0"/>
              </a:rPr>
              <a:t>Inclusion Strategy for Coastal Research</a:t>
            </a:r>
          </a:p>
          <a:p>
            <a:pPr marL="342900" indent="-114300"/>
            <a:r>
              <a:rPr lang="en-US" sz="1100" dirty="0">
                <a:latin typeface="Arial" panose="020B0604020202020204" pitchFamily="34" charset="0"/>
                <a:cs typeface="Arial" panose="020B0604020202020204" pitchFamily="34" charset="0"/>
              </a:rPr>
              <a:t>Flipping the script through Cyber-infrastructure integration </a:t>
            </a:r>
          </a:p>
          <a:p>
            <a:pPr marL="342900" indent="-114300"/>
            <a:r>
              <a:rPr lang="en-US" sz="1100" dirty="0">
                <a:latin typeface="Arial" panose="020B0604020202020204" pitchFamily="34" charset="0"/>
                <a:cs typeface="Arial" panose="020B0604020202020204" pitchFamily="34" charset="0"/>
              </a:rPr>
              <a:t>Demonstrate value added to other networks</a:t>
            </a:r>
          </a:p>
          <a:p>
            <a:pPr marL="342900" indent="-114300"/>
            <a:r>
              <a:rPr lang="en-US" sz="1100" dirty="0">
                <a:latin typeface="Arial" panose="020B0604020202020204" pitchFamily="34" charset="0"/>
                <a:cs typeface="Arial" panose="020B0604020202020204" pitchFamily="34" charset="0"/>
              </a:rPr>
              <a:t>Placed based observations to fill knowledge gaps</a:t>
            </a:r>
          </a:p>
          <a:p>
            <a:pPr marL="231775" indent="-225425"/>
            <a:endParaRPr lang="en-US" sz="1100" b="1" dirty="0">
              <a:latin typeface="Arial" panose="020B0604020202020204" pitchFamily="34" charset="0"/>
              <a:cs typeface="Arial" panose="020B0604020202020204" pitchFamily="34" charset="0"/>
            </a:endParaRPr>
          </a:p>
        </p:txBody>
      </p:sp>
      <p:cxnSp>
        <p:nvCxnSpPr>
          <p:cNvPr id="15" name="Straight Connector 14">
            <a:extLst>
              <a:ext uri="{FF2B5EF4-FFF2-40B4-BE49-F238E27FC236}">
                <a16:creationId xmlns:a16="http://schemas.microsoft.com/office/drawing/2014/main" id="{59E5254C-8283-0B48-BABE-C4919A94395A}"/>
              </a:ext>
            </a:extLst>
          </p:cNvPr>
          <p:cNvCxnSpPr>
            <a:cxnSpLocks/>
          </p:cNvCxnSpPr>
          <p:nvPr/>
        </p:nvCxnSpPr>
        <p:spPr>
          <a:xfrm>
            <a:off x="114300" y="925288"/>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Diagram&#10;&#10;Description automatically generated with medium confidence">
            <a:extLst>
              <a:ext uri="{FF2B5EF4-FFF2-40B4-BE49-F238E27FC236}">
                <a16:creationId xmlns:a16="http://schemas.microsoft.com/office/drawing/2014/main" id="{4028CD8D-BB34-D845-9B3F-EF6C38BEE46D}"/>
              </a:ext>
            </a:extLst>
          </p:cNvPr>
          <p:cNvPicPr>
            <a:picLocks noChangeAspect="1"/>
          </p:cNvPicPr>
          <p:nvPr/>
        </p:nvPicPr>
        <p:blipFill>
          <a:blip r:embed="rId2"/>
          <a:stretch>
            <a:fillRect/>
          </a:stretch>
        </p:blipFill>
        <p:spPr>
          <a:xfrm>
            <a:off x="394021" y="62847"/>
            <a:ext cx="804686" cy="804686"/>
          </a:xfrm>
          <a:prstGeom prst="rect">
            <a:avLst/>
          </a:prstGeom>
        </p:spPr>
      </p:pic>
      <p:sp>
        <p:nvSpPr>
          <p:cNvPr id="21" name="TextBox 20">
            <a:extLst>
              <a:ext uri="{FF2B5EF4-FFF2-40B4-BE49-F238E27FC236}">
                <a16:creationId xmlns:a16="http://schemas.microsoft.com/office/drawing/2014/main" id="{B8117C0E-CF5E-C146-9561-7BF318D5C753}"/>
              </a:ext>
            </a:extLst>
          </p:cNvPr>
          <p:cNvSpPr txBox="1"/>
          <p:nvPr/>
        </p:nvSpPr>
        <p:spPr>
          <a:xfrm>
            <a:off x="131638" y="5452659"/>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latin typeface="Avenir" panose="02000503020000020003" pitchFamily="2" charset="0"/>
              </a:rPr>
              <a:t>Next Steps and Paths Forward</a:t>
            </a:r>
          </a:p>
        </p:txBody>
      </p:sp>
      <p:sp>
        <p:nvSpPr>
          <p:cNvPr id="25" name="Content Placeholder 5">
            <a:extLst>
              <a:ext uri="{FF2B5EF4-FFF2-40B4-BE49-F238E27FC236}">
                <a16:creationId xmlns:a16="http://schemas.microsoft.com/office/drawing/2014/main" id="{C7CD3040-5737-2849-B04D-61CC282DDC7E}"/>
              </a:ext>
            </a:extLst>
          </p:cNvPr>
          <p:cNvSpPr txBox="1">
            <a:spLocks/>
          </p:cNvSpPr>
          <p:nvPr/>
        </p:nvSpPr>
        <p:spPr>
          <a:xfrm>
            <a:off x="233063" y="5980044"/>
            <a:ext cx="6391874" cy="2304389"/>
          </a:xfrm>
          <a:prstGeom prst="rect">
            <a:avLst/>
          </a:prstGeom>
        </p:spPr>
        <p:txBody>
          <a:bodyPr/>
          <a:lstStyle>
            <a:lvl1pPr marL="228600" indent="-228600" algn="l" defTabSz="914400" rtl="0" eaLnBrk="1" latinLnBrk="0" hangingPunct="1">
              <a:spcBef>
                <a:spcPts val="600"/>
              </a:spcBef>
              <a:spcAft>
                <a:spcPts val="500"/>
              </a:spcAft>
              <a:buClr>
                <a:schemeClr val="accent1"/>
              </a:buClr>
              <a:buSzPct val="115000"/>
              <a:buFont typeface="Arial" pitchFamily="34" charset="0"/>
              <a:buChar char="•"/>
              <a:defRPr sz="2400" kern="1200">
                <a:solidFill>
                  <a:schemeClr val="tx1"/>
                </a:solidFill>
                <a:latin typeface="+mn-lt"/>
                <a:ea typeface="+mn-ea"/>
                <a:cs typeface="+mn-cs"/>
              </a:defRPr>
            </a:lvl1pPr>
            <a:lvl2pPr marL="457200" indent="-169863" algn="l" defTabSz="914400" rtl="0" eaLnBrk="1" latinLnBrk="0" hangingPunct="1">
              <a:spcBef>
                <a:spcPts val="600"/>
              </a:spcBef>
              <a:spcAft>
                <a:spcPts val="500"/>
              </a:spcAft>
              <a:buClr>
                <a:schemeClr val="accent1"/>
              </a:buClr>
              <a:buSzPct val="85000"/>
              <a:buFont typeface="Wingdings" pitchFamily="2" charset="2"/>
              <a:buChar char="§"/>
              <a:defRPr sz="2000" kern="1200">
                <a:solidFill>
                  <a:schemeClr val="tx1"/>
                </a:solidFill>
                <a:latin typeface="+mn-lt"/>
                <a:ea typeface="+mn-ea"/>
                <a:cs typeface="+mn-cs"/>
              </a:defRPr>
            </a:lvl2pPr>
            <a:lvl3pPr marL="744538" indent="-228600" algn="l" defTabSz="914400" rtl="0" eaLnBrk="1" latinLnBrk="0" hangingPunct="1">
              <a:spcBef>
                <a:spcPts val="600"/>
              </a:spcBef>
              <a:spcAft>
                <a:spcPts val="500"/>
              </a:spcAft>
              <a:buClr>
                <a:schemeClr val="accent1"/>
              </a:buClr>
              <a:buFont typeface="Arial" pitchFamily="34" charset="0"/>
              <a:buChar char="−"/>
              <a:tabLst/>
              <a:defRPr sz="1800" kern="1200">
                <a:solidFill>
                  <a:schemeClr val="tx1"/>
                </a:solidFill>
                <a:latin typeface="+mn-lt"/>
                <a:ea typeface="+mn-ea"/>
                <a:cs typeface="+mn-cs"/>
              </a:defRPr>
            </a:lvl3pPr>
            <a:lvl4pPr marL="914400" indent="-171450" algn="l" defTabSz="914400" rtl="0" eaLnBrk="1" latinLnBrk="0" hangingPunct="1">
              <a:spcBef>
                <a:spcPts val="600"/>
              </a:spcBef>
              <a:spcAft>
                <a:spcPts val="500"/>
              </a:spcAft>
              <a:buClr>
                <a:schemeClr val="accent1"/>
              </a:buClr>
              <a:buFont typeface="Arial" pitchFamily="34" charset="0"/>
              <a:buChar char="-"/>
              <a:defRPr sz="1600" kern="1200">
                <a:solidFill>
                  <a:schemeClr val="tx1"/>
                </a:solidFill>
                <a:latin typeface="+mn-lt"/>
                <a:ea typeface="+mn-ea"/>
                <a:cs typeface="+mn-cs"/>
              </a:defRPr>
            </a:lvl4pPr>
            <a:lvl5pPr marL="1201738" indent="-228600" algn="l" defTabSz="914400" rtl="0" eaLnBrk="1" latinLnBrk="0" hangingPunct="1">
              <a:spcBef>
                <a:spcPts val="600"/>
              </a:spcBef>
              <a:spcAft>
                <a:spcPts val="500"/>
              </a:spcAft>
              <a:buClr>
                <a:schemeClr val="accent1"/>
              </a:buClr>
              <a:buFont typeface="Wingdings"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spcAft>
                <a:spcPts val="300"/>
              </a:spcAft>
              <a:buClrTx/>
              <a:buSzTx/>
              <a:buNone/>
              <a:defRPr/>
            </a:pPr>
            <a:r>
              <a:rPr lang="en-US" sz="1100" b="1" dirty="0">
                <a:latin typeface="Arial" panose="020B0604020202020204" pitchFamily="34" charset="0"/>
                <a:cs typeface="Arial" panose="020B0604020202020204" pitchFamily="34" charset="0"/>
              </a:rPr>
              <a:t>Collaborative Participation of the Coastal Research Community</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Bring together </a:t>
            </a:r>
            <a:r>
              <a:rPr lang="en-US" sz="1100" dirty="0">
                <a:latin typeface="Arial" panose="020B0604020202020204" pitchFamily="34" charset="0"/>
                <a:cs typeface="Arial" panose="020B0604020202020204" pitchFamily="34" charset="0"/>
              </a:rPr>
              <a:t>key members of the Coastal Research Community</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Outline</a:t>
            </a:r>
            <a:r>
              <a:rPr lang="en-US" sz="1100" dirty="0">
                <a:latin typeface="Arial" panose="020B0604020202020204" pitchFamily="34" charset="0"/>
                <a:cs typeface="Arial" panose="020B0604020202020204" pitchFamily="34" charset="0"/>
              </a:rPr>
              <a:t> the proposal approach</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Listen, respect, and work to accommodate </a:t>
            </a:r>
            <a:r>
              <a:rPr lang="en-US" sz="1100" dirty="0">
                <a:latin typeface="Arial" panose="020B0604020202020204" pitchFamily="34" charset="0"/>
                <a:cs typeface="Arial" panose="020B0604020202020204" pitchFamily="34" charset="0"/>
              </a:rPr>
              <a:t>proposal ideas, concerns, questions</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Co-develop </a:t>
            </a:r>
            <a:r>
              <a:rPr lang="en-US" sz="1100" dirty="0">
                <a:latin typeface="Arial" panose="020B0604020202020204" pitchFamily="34" charset="0"/>
                <a:cs typeface="Arial" panose="020B0604020202020204" pitchFamily="34" charset="0"/>
              </a:rPr>
              <a:t>the proposal that reflects the insights, knowledge, and experience of all participants</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Plan</a:t>
            </a:r>
            <a:r>
              <a:rPr lang="en-US" sz="1100" dirty="0">
                <a:latin typeface="Arial" panose="020B0604020202020204" pitchFamily="34" charset="0"/>
                <a:cs typeface="Arial" panose="020B0604020202020204" pitchFamily="34" charset="0"/>
              </a:rPr>
              <a:t> follow-up workshops that engage broader interests and begin scoping the proposal</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Identify </a:t>
            </a:r>
            <a:r>
              <a:rPr lang="en-US" sz="1100" dirty="0">
                <a:latin typeface="Arial" panose="020B0604020202020204" pitchFamily="34" charset="0"/>
                <a:cs typeface="Arial" panose="020B0604020202020204" pitchFamily="34" charset="0"/>
              </a:rPr>
              <a:t>others or other skillsets that will be needed for success</a:t>
            </a:r>
          </a:p>
          <a:p>
            <a:pPr lvl="1">
              <a:spcBef>
                <a:spcPts val="0"/>
              </a:spcBef>
              <a:spcAft>
                <a:spcPts val="300"/>
              </a:spcAft>
              <a:buClrTx/>
              <a:buSzTx/>
              <a:buFont typeface="Arial" panose="020B0604020202020204" pitchFamily="34" charset="0"/>
              <a:buChar char="•"/>
              <a:defRPr/>
            </a:pPr>
            <a:r>
              <a:rPr lang="en-US" sz="1100" b="1" dirty="0">
                <a:latin typeface="Arial" panose="020B0604020202020204" pitchFamily="34" charset="0"/>
                <a:cs typeface="Arial" panose="020B0604020202020204" pitchFamily="34" charset="0"/>
              </a:rPr>
              <a:t>Develop</a:t>
            </a:r>
            <a:r>
              <a:rPr lang="en-US" sz="1100" dirty="0">
                <a:latin typeface="Arial" panose="020B0604020202020204" pitchFamily="34" charset="0"/>
                <a:cs typeface="Arial" panose="020B0604020202020204" pitchFamily="34" charset="0"/>
              </a:rPr>
              <a:t> a trusted means of communication and regular updates</a:t>
            </a:r>
          </a:p>
          <a:p>
            <a:pPr lvl="1">
              <a:spcBef>
                <a:spcPts val="0"/>
              </a:spcBef>
              <a:spcAft>
                <a:spcPts val="300"/>
              </a:spcAft>
              <a:buClrTx/>
              <a:buSzTx/>
              <a:buFont typeface="Wingdings" pitchFamily="2" charset="2"/>
              <a:buChar char="Ø"/>
              <a:defRPr/>
            </a:pPr>
            <a:endParaRPr lang="en-US" sz="800" dirty="0">
              <a:latin typeface="Arial" panose="020B0604020202020204" pitchFamily="34" charset="0"/>
              <a:cs typeface="Arial" panose="020B0604020202020204" pitchFamily="34" charset="0"/>
            </a:endParaRPr>
          </a:p>
          <a:p>
            <a:pPr marL="0" lvl="0" indent="0" algn="ctr">
              <a:spcBef>
                <a:spcPts val="0"/>
              </a:spcBef>
              <a:spcAft>
                <a:spcPts val="300"/>
              </a:spcAft>
              <a:buClrTx/>
              <a:buSzTx/>
              <a:buNone/>
              <a:defRPr/>
            </a:pPr>
            <a:r>
              <a:rPr lang="en-US" sz="1400" b="1" dirty="0">
                <a:latin typeface="Arial" panose="020B0604020202020204" pitchFamily="34" charset="0"/>
                <a:cs typeface="Arial" panose="020B0604020202020204" pitchFamily="34" charset="0"/>
              </a:rPr>
              <a:t>** Submission Date is January 2023 **</a:t>
            </a:r>
          </a:p>
        </p:txBody>
      </p:sp>
      <p:sp>
        <p:nvSpPr>
          <p:cNvPr id="22" name="TextBox 21">
            <a:extLst>
              <a:ext uri="{FF2B5EF4-FFF2-40B4-BE49-F238E27FC236}">
                <a16:creationId xmlns:a16="http://schemas.microsoft.com/office/drawing/2014/main" id="{61FF60A5-937E-639B-6DFD-A9F0144568B2}"/>
              </a:ext>
            </a:extLst>
          </p:cNvPr>
          <p:cNvSpPr txBox="1"/>
          <p:nvPr/>
        </p:nvSpPr>
        <p:spPr>
          <a:xfrm>
            <a:off x="116557" y="995862"/>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solidFill>
                  <a:schemeClr val="bg1"/>
                </a:solidFill>
                <a:latin typeface="Avenir" panose="02000503020000020003" pitchFamily="2" charset="0"/>
              </a:rPr>
              <a:t>Draft Proposal Scope</a:t>
            </a:r>
          </a:p>
        </p:txBody>
      </p:sp>
      <p:sp>
        <p:nvSpPr>
          <p:cNvPr id="19" name="TextBox 18">
            <a:extLst>
              <a:ext uri="{FF2B5EF4-FFF2-40B4-BE49-F238E27FC236}">
                <a16:creationId xmlns:a16="http://schemas.microsoft.com/office/drawing/2014/main" id="{0D271A23-46DF-CA4A-A835-2EC768F0D2C1}"/>
              </a:ext>
            </a:extLst>
          </p:cNvPr>
          <p:cNvSpPr txBox="1"/>
          <p:nvPr/>
        </p:nvSpPr>
        <p:spPr>
          <a:xfrm>
            <a:off x="3292861" y="1572863"/>
            <a:ext cx="3497446" cy="3785652"/>
          </a:xfrm>
          <a:prstGeom prst="rect">
            <a:avLst/>
          </a:prstGeom>
          <a:noFill/>
        </p:spPr>
        <p:txBody>
          <a:bodyPr wrap="square">
            <a:spAutoFit/>
          </a:bodyPr>
          <a:lstStyle/>
          <a:p>
            <a:pPr marL="402336" indent="-457200"/>
            <a:r>
              <a:rPr lang="en-US" sz="1100" b="1" dirty="0">
                <a:latin typeface="Arial" panose="020B0604020202020204" pitchFamily="34" charset="0"/>
                <a:cs typeface="Arial" panose="020B0604020202020204" pitchFamily="34" charset="0"/>
              </a:rPr>
              <a:t>Defined Coastal Critical Zone</a:t>
            </a:r>
          </a:p>
          <a:p>
            <a:pPr marL="401638" indent="-230188"/>
            <a:r>
              <a:rPr lang="en-US" sz="1100" dirty="0">
                <a:latin typeface="Arial" panose="020B0604020202020204" pitchFamily="34" charset="0"/>
                <a:cs typeface="Arial" panose="020B0604020202020204" pitchFamily="34" charset="0"/>
              </a:rPr>
              <a:t>The place where land, water and people meet.</a:t>
            </a:r>
          </a:p>
          <a:p>
            <a:pPr marL="401638" indent="-230188"/>
            <a:r>
              <a:rPr lang="en-US" sz="1100" dirty="0">
                <a:latin typeface="Arial" panose="020B0604020202020204" pitchFamily="34" charset="0"/>
                <a:cs typeface="Arial" panose="020B0604020202020204" pitchFamily="34" charset="0"/>
              </a:rPr>
              <a:t>Includes river deltas, tidal inlands, estuaries</a:t>
            </a:r>
          </a:p>
          <a:p>
            <a:pPr marL="401638" indent="-230188">
              <a:spcAft>
                <a:spcPts val="600"/>
              </a:spcAft>
            </a:pPr>
            <a:r>
              <a:rPr lang="en-US" sz="1100" dirty="0">
                <a:latin typeface="Arial" panose="020B0604020202020204" pitchFamily="34" charset="0"/>
                <a:cs typeface="Arial" panose="020B0604020202020204" pitchFamily="34" charset="0"/>
              </a:rPr>
              <a:t>Includes terrestrial and built areas near coasts</a:t>
            </a:r>
          </a:p>
          <a:p>
            <a:pPr marL="231775" indent="-225425"/>
            <a:r>
              <a:rPr lang="en-US" sz="1100" b="1" dirty="0">
                <a:latin typeface="Arial" panose="020B0604020202020204" pitchFamily="34" charset="0"/>
                <a:cs typeface="Arial" panose="020B0604020202020204" pitchFamily="34" charset="0"/>
              </a:rPr>
              <a:t>Co-Development of Knowledge</a:t>
            </a:r>
          </a:p>
          <a:p>
            <a:pPr marL="231775" indent="-225425"/>
            <a:r>
              <a:rPr lang="en-US" sz="1100" dirty="0">
                <a:latin typeface="Arial" panose="020B0604020202020204" pitchFamily="34" charset="0"/>
                <a:cs typeface="Arial" panose="020B0604020202020204" pitchFamily="34" charset="0"/>
              </a:rPr>
              <a:t>     Coastal biogeochemical processes</a:t>
            </a:r>
          </a:p>
          <a:p>
            <a:pPr marL="231775" indent="-225425"/>
            <a:r>
              <a:rPr lang="en-US" sz="1100" dirty="0">
                <a:latin typeface="Arial" panose="020B0604020202020204" pitchFamily="34" charset="0"/>
                <a:cs typeface="Arial" panose="020B0604020202020204" pitchFamily="34" charset="0"/>
              </a:rPr>
              <a:t>     Saltwater intrusion, sea-level rise, </a:t>
            </a:r>
          </a:p>
          <a:p>
            <a:pPr marL="231775" indent="-225425">
              <a:spcAft>
                <a:spcPts val="600"/>
              </a:spcAft>
            </a:pPr>
            <a:r>
              <a:rPr lang="en-US" sz="1100" dirty="0">
                <a:latin typeface="Arial" panose="020B0604020202020204" pitchFamily="34" charset="0"/>
                <a:cs typeface="Arial" panose="020B0604020202020204" pitchFamily="34" charset="0"/>
              </a:rPr>
              <a:t>     Wind effects, flooding, ecosystem functions</a:t>
            </a:r>
          </a:p>
          <a:p>
            <a:pPr marL="231775" indent="-225425"/>
            <a:r>
              <a:rPr lang="en-US" sz="1100" b="1" dirty="0">
                <a:latin typeface="Arial" panose="020B0604020202020204" pitchFamily="34" charset="0"/>
                <a:cs typeface="Arial" panose="020B0604020202020204" pitchFamily="34" charset="0"/>
              </a:rPr>
              <a:t>Social Dimension Integration: Portfolio Theory</a:t>
            </a:r>
          </a:p>
          <a:p>
            <a:pPr marL="231775" indent="-225425"/>
            <a:r>
              <a:rPr lang="en-US" sz="1100" dirty="0">
                <a:latin typeface="Arial" panose="020B0604020202020204" pitchFamily="34" charset="0"/>
                <a:cs typeface="Arial" panose="020B0604020202020204" pitchFamily="34" charset="0"/>
              </a:rPr>
              <a:t>     Ecosystem Services</a:t>
            </a:r>
          </a:p>
          <a:p>
            <a:pPr marL="231775" indent="-225425"/>
            <a:r>
              <a:rPr lang="en-US" sz="1100" dirty="0">
                <a:latin typeface="Arial" panose="020B0604020202020204" pitchFamily="34" charset="0"/>
                <a:cs typeface="Arial" panose="020B0604020202020204" pitchFamily="34" charset="0"/>
              </a:rPr>
              <a:t>     Local to Regional Economies</a:t>
            </a:r>
          </a:p>
          <a:p>
            <a:pPr marL="231775" indent="-225425">
              <a:spcAft>
                <a:spcPts val="600"/>
              </a:spcAft>
            </a:pPr>
            <a:r>
              <a:rPr lang="en-US" sz="1100" dirty="0">
                <a:latin typeface="Arial" panose="020B0604020202020204" pitchFamily="34" charset="0"/>
                <a:cs typeface="Arial" panose="020B0604020202020204" pitchFamily="34" charset="0"/>
              </a:rPr>
              <a:t>     Jurisprudence, Equity and Policy</a:t>
            </a:r>
          </a:p>
          <a:p>
            <a:pPr marL="231775" indent="-225425"/>
            <a:r>
              <a:rPr lang="en-US" sz="1100" b="1" dirty="0">
                <a:latin typeface="Arial" panose="020B0604020202020204" pitchFamily="34" charset="0"/>
                <a:cs typeface="Arial" panose="020B0604020202020204" pitchFamily="34" charset="0"/>
              </a:rPr>
              <a:t>Needs Assessment: Educational and Engagement for underserved communities</a:t>
            </a:r>
          </a:p>
          <a:p>
            <a:pPr marL="231775" indent="-225425"/>
            <a:r>
              <a:rPr lang="en-US" sz="1100" dirty="0">
                <a:latin typeface="Arial" panose="020B0604020202020204" pitchFamily="34" charset="0"/>
                <a:cs typeface="Arial" panose="020B0604020202020204" pitchFamily="34" charset="0"/>
              </a:rPr>
              <a:t>     Novel curriculum and learning materials.</a:t>
            </a:r>
          </a:p>
          <a:p>
            <a:pPr marL="231775" indent="-225425">
              <a:spcAft>
                <a:spcPts val="600"/>
              </a:spcAft>
            </a:pPr>
            <a:r>
              <a:rPr lang="en-US" sz="1100" dirty="0">
                <a:latin typeface="Arial" panose="020B0604020202020204" pitchFamily="34" charset="0"/>
                <a:cs typeface="Arial" panose="020B0604020202020204" pitchFamily="34" charset="0"/>
              </a:rPr>
              <a:t>     Removal of technical barriers  </a:t>
            </a:r>
          </a:p>
          <a:p>
            <a:pPr marL="231775" indent="-225425"/>
            <a:r>
              <a:rPr lang="en-US" sz="1100" b="1" dirty="0">
                <a:latin typeface="Arial" panose="020B0604020202020204" pitchFamily="34" charset="0"/>
                <a:cs typeface="Arial" panose="020B0604020202020204" pitchFamily="34" charset="0"/>
              </a:rPr>
              <a:t>Co-Design Workforce Development Pipeline</a:t>
            </a:r>
            <a:r>
              <a:rPr lang="en-US" sz="1100" dirty="0">
                <a:latin typeface="Arial" panose="020B0604020202020204" pitchFamily="34" charset="0"/>
                <a:cs typeface="Arial" panose="020B0604020202020204" pitchFamily="34" charset="0"/>
              </a:rPr>
              <a:t> </a:t>
            </a:r>
          </a:p>
          <a:p>
            <a:pPr marL="231775" indent="-225425"/>
            <a:r>
              <a:rPr lang="en-US" sz="1100" dirty="0">
                <a:latin typeface="Arial" panose="020B0604020202020204" pitchFamily="34" charset="0"/>
                <a:cs typeface="Arial" panose="020B0604020202020204" pitchFamily="34" charset="0"/>
              </a:rPr>
              <a:t>      Science and research management is multifaceted and supports careers in many fields, not just science. </a:t>
            </a:r>
          </a:p>
        </p:txBody>
      </p:sp>
      <p:sp>
        <p:nvSpPr>
          <p:cNvPr id="23" name="TextBox 22">
            <a:extLst>
              <a:ext uri="{FF2B5EF4-FFF2-40B4-BE49-F238E27FC236}">
                <a16:creationId xmlns:a16="http://schemas.microsoft.com/office/drawing/2014/main" id="{B7539A40-C7F9-9C11-255B-76268AA334F5}"/>
              </a:ext>
            </a:extLst>
          </p:cNvPr>
          <p:cNvSpPr txBox="1"/>
          <p:nvPr/>
        </p:nvSpPr>
        <p:spPr>
          <a:xfrm>
            <a:off x="1583871" y="153181"/>
            <a:ext cx="4980215" cy="646331"/>
          </a:xfrm>
          <a:prstGeom prst="rect">
            <a:avLst/>
          </a:prstGeom>
          <a:noFill/>
        </p:spPr>
        <p:txBody>
          <a:bodyPr wrap="square" rtlCol="0">
            <a:spAutoFit/>
          </a:bodyPr>
          <a:lstStyle/>
          <a:p>
            <a:pPr algn="ctr"/>
            <a:r>
              <a:rPr lang="en-US" dirty="0">
                <a:solidFill>
                  <a:srgbClr val="0070C0"/>
                </a:solidFill>
                <a:latin typeface="Avenir" panose="02000503020000020003" pitchFamily="2" charset="0"/>
              </a:rPr>
              <a:t>OPPORTUNITY: NSF MID-SCALE INFRASTRUCTURE PROPOSAL (NSF 21-505)</a:t>
            </a:r>
          </a:p>
        </p:txBody>
      </p:sp>
      <p:pic>
        <p:nvPicPr>
          <p:cNvPr id="26" name="Picture 2" descr="Battelle Logo - LogoDix">
            <a:extLst>
              <a:ext uri="{FF2B5EF4-FFF2-40B4-BE49-F238E27FC236}">
                <a16:creationId xmlns:a16="http://schemas.microsoft.com/office/drawing/2014/main" id="{6B097BE3-7AC6-BF43-A6D3-4B332F0D8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402" y="8815690"/>
            <a:ext cx="1026868" cy="1751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C889095E-2EFC-CD47-9D92-5EA5E98612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1947" y="8373759"/>
            <a:ext cx="703866" cy="703866"/>
          </a:xfrm>
          <a:prstGeom prst="rect">
            <a:avLst/>
          </a:prstGeom>
        </p:spPr>
      </p:pic>
      <p:cxnSp>
        <p:nvCxnSpPr>
          <p:cNvPr id="28" name="Straight Connector 27">
            <a:extLst>
              <a:ext uri="{FF2B5EF4-FFF2-40B4-BE49-F238E27FC236}">
                <a16:creationId xmlns:a16="http://schemas.microsoft.com/office/drawing/2014/main" id="{3C40BFB1-A8BB-B845-9FB2-D9CBEAA65F72}"/>
              </a:ext>
            </a:extLst>
          </p:cNvPr>
          <p:cNvCxnSpPr>
            <a:cxnSpLocks/>
          </p:cNvCxnSpPr>
          <p:nvPr/>
        </p:nvCxnSpPr>
        <p:spPr>
          <a:xfrm>
            <a:off x="114300" y="8316686"/>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descr="Logo&#10;&#10;Description automatically generated">
            <a:extLst>
              <a:ext uri="{FF2B5EF4-FFF2-40B4-BE49-F238E27FC236}">
                <a16:creationId xmlns:a16="http://schemas.microsoft.com/office/drawing/2014/main" id="{56811B42-5842-954B-BD7C-C8C55F6A3602}"/>
              </a:ext>
            </a:extLst>
          </p:cNvPr>
          <p:cNvPicPr>
            <a:picLocks noChangeAspect="1"/>
          </p:cNvPicPr>
          <p:nvPr/>
        </p:nvPicPr>
        <p:blipFill>
          <a:blip r:embed="rId5"/>
          <a:stretch>
            <a:fillRect/>
          </a:stretch>
        </p:blipFill>
        <p:spPr>
          <a:xfrm>
            <a:off x="2547974" y="8305046"/>
            <a:ext cx="1218671" cy="609336"/>
          </a:xfrm>
          <a:prstGeom prst="rect">
            <a:avLst/>
          </a:prstGeom>
        </p:spPr>
      </p:pic>
      <p:pic>
        <p:nvPicPr>
          <p:cNvPr id="30" name="Picture 29">
            <a:extLst>
              <a:ext uri="{FF2B5EF4-FFF2-40B4-BE49-F238E27FC236}">
                <a16:creationId xmlns:a16="http://schemas.microsoft.com/office/drawing/2014/main" id="{2F4EDD03-3180-AC42-BD9D-ADBD804FD7B0}"/>
              </a:ext>
            </a:extLst>
          </p:cNvPr>
          <p:cNvPicPr>
            <a:picLocks noChangeAspect="1"/>
          </p:cNvPicPr>
          <p:nvPr/>
        </p:nvPicPr>
        <p:blipFill>
          <a:blip r:embed="rId6"/>
          <a:stretch>
            <a:fillRect/>
          </a:stretch>
        </p:blipFill>
        <p:spPr>
          <a:xfrm>
            <a:off x="6166735" y="8446966"/>
            <a:ext cx="557420" cy="557420"/>
          </a:xfrm>
          <a:prstGeom prst="rect">
            <a:avLst/>
          </a:prstGeom>
        </p:spPr>
      </p:pic>
      <p:pic>
        <p:nvPicPr>
          <p:cNvPr id="31" name="Picture 30" descr="Logo&#10;&#10;Description automatically generated">
            <a:extLst>
              <a:ext uri="{FF2B5EF4-FFF2-40B4-BE49-F238E27FC236}">
                <a16:creationId xmlns:a16="http://schemas.microsoft.com/office/drawing/2014/main" id="{D1691136-3953-8844-9EC7-B9577523CDA3}"/>
              </a:ext>
            </a:extLst>
          </p:cNvPr>
          <p:cNvPicPr>
            <a:picLocks noChangeAspect="1"/>
          </p:cNvPicPr>
          <p:nvPr/>
        </p:nvPicPr>
        <p:blipFill>
          <a:blip r:embed="rId7"/>
          <a:stretch>
            <a:fillRect/>
          </a:stretch>
        </p:blipFill>
        <p:spPr>
          <a:xfrm>
            <a:off x="4454407" y="8499296"/>
            <a:ext cx="1070250" cy="454234"/>
          </a:xfrm>
          <a:prstGeom prst="rect">
            <a:avLst/>
          </a:prstGeom>
        </p:spPr>
      </p:pic>
      <p:pic>
        <p:nvPicPr>
          <p:cNvPr id="32" name="Picture 31" descr="Logo&#10;&#10;Description automatically generated">
            <a:extLst>
              <a:ext uri="{FF2B5EF4-FFF2-40B4-BE49-F238E27FC236}">
                <a16:creationId xmlns:a16="http://schemas.microsoft.com/office/drawing/2014/main" id="{04FE4B18-88CC-F243-8559-3B7B04A2BDEB}"/>
              </a:ext>
            </a:extLst>
          </p:cNvPr>
          <p:cNvPicPr>
            <a:picLocks noChangeAspect="1"/>
          </p:cNvPicPr>
          <p:nvPr/>
        </p:nvPicPr>
        <p:blipFill>
          <a:blip r:embed="rId8"/>
          <a:stretch>
            <a:fillRect/>
          </a:stretch>
        </p:blipFill>
        <p:spPr>
          <a:xfrm>
            <a:off x="5541896" y="8595769"/>
            <a:ext cx="575906" cy="267011"/>
          </a:xfrm>
          <a:prstGeom prst="rect">
            <a:avLst/>
          </a:prstGeom>
        </p:spPr>
      </p:pic>
      <p:sp>
        <p:nvSpPr>
          <p:cNvPr id="33" name="TextBox 32">
            <a:extLst>
              <a:ext uri="{FF2B5EF4-FFF2-40B4-BE49-F238E27FC236}">
                <a16:creationId xmlns:a16="http://schemas.microsoft.com/office/drawing/2014/main" id="{D549469D-81AF-D740-98CF-97B6E83D243C}"/>
              </a:ext>
            </a:extLst>
          </p:cNvPr>
          <p:cNvSpPr txBox="1"/>
          <p:nvPr/>
        </p:nvSpPr>
        <p:spPr>
          <a:xfrm>
            <a:off x="48984" y="8439755"/>
            <a:ext cx="2619628" cy="707886"/>
          </a:xfrm>
          <a:prstGeom prst="rect">
            <a:avLst/>
          </a:prstGeom>
          <a:noFill/>
        </p:spPr>
        <p:txBody>
          <a:bodyPr wrap="none" rtlCol="0">
            <a:spAutoFit/>
          </a:bodyPr>
          <a:lstStyle/>
          <a:p>
            <a:r>
              <a:rPr lang="en-US" sz="800" dirty="0"/>
              <a:t>Contact:</a:t>
            </a:r>
          </a:p>
          <a:p>
            <a:r>
              <a:rPr lang="en-US" sz="800" dirty="0"/>
              <a:t>Skip Van </a:t>
            </a:r>
            <a:r>
              <a:rPr lang="en-US" sz="800" dirty="0" err="1"/>
              <a:t>Bloem</a:t>
            </a:r>
            <a:r>
              <a:rPr lang="en-US" sz="800" dirty="0"/>
              <a:t>, Clemson U, </a:t>
            </a:r>
            <a:r>
              <a:rPr lang="en-US" sz="800" dirty="0" err="1"/>
              <a:t>skipvb@clemson.edu</a:t>
            </a:r>
            <a:r>
              <a:rPr lang="en-US" sz="800" dirty="0"/>
              <a:t> </a:t>
            </a:r>
          </a:p>
          <a:p>
            <a:r>
              <a:rPr lang="en-US" sz="800" dirty="0"/>
              <a:t>Nirav Merchant, U Arizona, </a:t>
            </a:r>
            <a:r>
              <a:rPr lang="en-US" sz="800" dirty="0" err="1"/>
              <a:t>nirav@email.arizona.edu</a:t>
            </a:r>
            <a:r>
              <a:rPr lang="en-US" sz="800" dirty="0"/>
              <a:t> </a:t>
            </a:r>
          </a:p>
          <a:p>
            <a:r>
              <a:rPr lang="en-US" sz="800" dirty="0"/>
              <a:t>Will Ambrose, Coastal Carolina U, </a:t>
            </a:r>
            <a:r>
              <a:rPr lang="en-US" sz="800" dirty="0" err="1"/>
              <a:t>wambrose@coastal.edu</a:t>
            </a:r>
            <a:endParaRPr lang="en-US" sz="800" dirty="0"/>
          </a:p>
          <a:p>
            <a:r>
              <a:rPr lang="en-US" sz="800" dirty="0"/>
              <a:t>Hank Loescher, Battelle, </a:t>
            </a:r>
            <a:r>
              <a:rPr lang="en-US" sz="800" dirty="0" err="1"/>
              <a:t>hloescher@battelleecology.org</a:t>
            </a:r>
            <a:endParaRPr lang="en-US" sz="800" dirty="0"/>
          </a:p>
        </p:txBody>
      </p:sp>
    </p:spTree>
    <p:extLst>
      <p:ext uri="{BB962C8B-B14F-4D97-AF65-F5344CB8AC3E}">
        <p14:creationId xmlns:p14="http://schemas.microsoft.com/office/powerpoint/2010/main" val="170570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59E5254C-8283-0B48-BABE-C4919A94395A}"/>
              </a:ext>
            </a:extLst>
          </p:cNvPr>
          <p:cNvCxnSpPr>
            <a:cxnSpLocks/>
          </p:cNvCxnSpPr>
          <p:nvPr/>
        </p:nvCxnSpPr>
        <p:spPr>
          <a:xfrm>
            <a:off x="114300" y="925288"/>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Diagram&#10;&#10;Description automatically generated with medium confidence">
            <a:extLst>
              <a:ext uri="{FF2B5EF4-FFF2-40B4-BE49-F238E27FC236}">
                <a16:creationId xmlns:a16="http://schemas.microsoft.com/office/drawing/2014/main" id="{4028CD8D-BB34-D845-9B3F-EF6C38BEE46D}"/>
              </a:ext>
            </a:extLst>
          </p:cNvPr>
          <p:cNvPicPr>
            <a:picLocks noChangeAspect="1"/>
          </p:cNvPicPr>
          <p:nvPr/>
        </p:nvPicPr>
        <p:blipFill>
          <a:blip r:embed="rId2"/>
          <a:stretch>
            <a:fillRect/>
          </a:stretch>
        </p:blipFill>
        <p:spPr>
          <a:xfrm>
            <a:off x="394021" y="62847"/>
            <a:ext cx="804686" cy="804686"/>
          </a:xfrm>
          <a:prstGeom prst="rect">
            <a:avLst/>
          </a:prstGeom>
        </p:spPr>
      </p:pic>
      <p:sp>
        <p:nvSpPr>
          <p:cNvPr id="23" name="TextBox 22">
            <a:extLst>
              <a:ext uri="{FF2B5EF4-FFF2-40B4-BE49-F238E27FC236}">
                <a16:creationId xmlns:a16="http://schemas.microsoft.com/office/drawing/2014/main" id="{B7539A40-C7F9-9C11-255B-76268AA334F5}"/>
              </a:ext>
            </a:extLst>
          </p:cNvPr>
          <p:cNvSpPr txBox="1"/>
          <p:nvPr/>
        </p:nvSpPr>
        <p:spPr>
          <a:xfrm>
            <a:off x="1583871" y="153181"/>
            <a:ext cx="4980215" cy="646331"/>
          </a:xfrm>
          <a:prstGeom prst="rect">
            <a:avLst/>
          </a:prstGeom>
          <a:noFill/>
        </p:spPr>
        <p:txBody>
          <a:bodyPr wrap="square" rtlCol="0">
            <a:spAutoFit/>
          </a:bodyPr>
          <a:lstStyle/>
          <a:p>
            <a:pPr algn="ctr"/>
            <a:r>
              <a:rPr lang="en-US" dirty="0">
                <a:solidFill>
                  <a:srgbClr val="0070C0"/>
                </a:solidFill>
                <a:latin typeface="Avenir" panose="02000503020000020003" pitchFamily="2" charset="0"/>
              </a:rPr>
              <a:t>OPPORTUNITY: NSF MID-SCALE INFRASTRUCTURE PROPOSAL (NSF 21-505)</a:t>
            </a:r>
          </a:p>
        </p:txBody>
      </p:sp>
      <p:pic>
        <p:nvPicPr>
          <p:cNvPr id="26" name="Picture 2" descr="Battelle Logo - LogoDix">
            <a:extLst>
              <a:ext uri="{FF2B5EF4-FFF2-40B4-BE49-F238E27FC236}">
                <a16:creationId xmlns:a16="http://schemas.microsoft.com/office/drawing/2014/main" id="{6B097BE3-7AC6-BF43-A6D3-4B332F0D8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402" y="8815690"/>
            <a:ext cx="1026868" cy="1751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C889095E-2EFC-CD47-9D92-5EA5E98612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1947" y="8373759"/>
            <a:ext cx="703866" cy="703866"/>
          </a:xfrm>
          <a:prstGeom prst="rect">
            <a:avLst/>
          </a:prstGeom>
        </p:spPr>
      </p:pic>
      <p:cxnSp>
        <p:nvCxnSpPr>
          <p:cNvPr id="28" name="Straight Connector 27">
            <a:extLst>
              <a:ext uri="{FF2B5EF4-FFF2-40B4-BE49-F238E27FC236}">
                <a16:creationId xmlns:a16="http://schemas.microsoft.com/office/drawing/2014/main" id="{3C40BFB1-A8BB-B845-9FB2-D9CBEAA65F72}"/>
              </a:ext>
            </a:extLst>
          </p:cNvPr>
          <p:cNvCxnSpPr>
            <a:cxnSpLocks/>
          </p:cNvCxnSpPr>
          <p:nvPr/>
        </p:nvCxnSpPr>
        <p:spPr>
          <a:xfrm>
            <a:off x="114300" y="8316686"/>
            <a:ext cx="6629400" cy="0"/>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descr="Logo&#10;&#10;Description automatically generated">
            <a:extLst>
              <a:ext uri="{FF2B5EF4-FFF2-40B4-BE49-F238E27FC236}">
                <a16:creationId xmlns:a16="http://schemas.microsoft.com/office/drawing/2014/main" id="{56811B42-5842-954B-BD7C-C8C55F6A3602}"/>
              </a:ext>
            </a:extLst>
          </p:cNvPr>
          <p:cNvPicPr>
            <a:picLocks noChangeAspect="1"/>
          </p:cNvPicPr>
          <p:nvPr/>
        </p:nvPicPr>
        <p:blipFill>
          <a:blip r:embed="rId5"/>
          <a:stretch>
            <a:fillRect/>
          </a:stretch>
        </p:blipFill>
        <p:spPr>
          <a:xfrm>
            <a:off x="2547974" y="8305046"/>
            <a:ext cx="1218671" cy="609336"/>
          </a:xfrm>
          <a:prstGeom prst="rect">
            <a:avLst/>
          </a:prstGeom>
        </p:spPr>
      </p:pic>
      <p:pic>
        <p:nvPicPr>
          <p:cNvPr id="30" name="Picture 29">
            <a:extLst>
              <a:ext uri="{FF2B5EF4-FFF2-40B4-BE49-F238E27FC236}">
                <a16:creationId xmlns:a16="http://schemas.microsoft.com/office/drawing/2014/main" id="{2F4EDD03-3180-AC42-BD9D-ADBD804FD7B0}"/>
              </a:ext>
            </a:extLst>
          </p:cNvPr>
          <p:cNvPicPr>
            <a:picLocks noChangeAspect="1"/>
          </p:cNvPicPr>
          <p:nvPr/>
        </p:nvPicPr>
        <p:blipFill>
          <a:blip r:embed="rId6"/>
          <a:stretch>
            <a:fillRect/>
          </a:stretch>
        </p:blipFill>
        <p:spPr>
          <a:xfrm>
            <a:off x="6166735" y="8446966"/>
            <a:ext cx="557420" cy="557420"/>
          </a:xfrm>
          <a:prstGeom prst="rect">
            <a:avLst/>
          </a:prstGeom>
        </p:spPr>
      </p:pic>
      <p:pic>
        <p:nvPicPr>
          <p:cNvPr id="31" name="Picture 30" descr="Logo&#10;&#10;Description automatically generated">
            <a:extLst>
              <a:ext uri="{FF2B5EF4-FFF2-40B4-BE49-F238E27FC236}">
                <a16:creationId xmlns:a16="http://schemas.microsoft.com/office/drawing/2014/main" id="{D1691136-3953-8844-9EC7-B9577523CDA3}"/>
              </a:ext>
            </a:extLst>
          </p:cNvPr>
          <p:cNvPicPr>
            <a:picLocks noChangeAspect="1"/>
          </p:cNvPicPr>
          <p:nvPr/>
        </p:nvPicPr>
        <p:blipFill>
          <a:blip r:embed="rId7"/>
          <a:stretch>
            <a:fillRect/>
          </a:stretch>
        </p:blipFill>
        <p:spPr>
          <a:xfrm>
            <a:off x="4454407" y="8499296"/>
            <a:ext cx="1070250" cy="454234"/>
          </a:xfrm>
          <a:prstGeom prst="rect">
            <a:avLst/>
          </a:prstGeom>
        </p:spPr>
      </p:pic>
      <p:pic>
        <p:nvPicPr>
          <p:cNvPr id="32" name="Picture 31" descr="Logo&#10;&#10;Description automatically generated">
            <a:extLst>
              <a:ext uri="{FF2B5EF4-FFF2-40B4-BE49-F238E27FC236}">
                <a16:creationId xmlns:a16="http://schemas.microsoft.com/office/drawing/2014/main" id="{04FE4B18-88CC-F243-8559-3B7B04A2BDEB}"/>
              </a:ext>
            </a:extLst>
          </p:cNvPr>
          <p:cNvPicPr>
            <a:picLocks noChangeAspect="1"/>
          </p:cNvPicPr>
          <p:nvPr/>
        </p:nvPicPr>
        <p:blipFill>
          <a:blip r:embed="rId8"/>
          <a:stretch>
            <a:fillRect/>
          </a:stretch>
        </p:blipFill>
        <p:spPr>
          <a:xfrm>
            <a:off x="5541896" y="8595769"/>
            <a:ext cx="575906" cy="267011"/>
          </a:xfrm>
          <a:prstGeom prst="rect">
            <a:avLst/>
          </a:prstGeom>
        </p:spPr>
      </p:pic>
      <p:sp>
        <p:nvSpPr>
          <p:cNvPr id="33" name="TextBox 32">
            <a:extLst>
              <a:ext uri="{FF2B5EF4-FFF2-40B4-BE49-F238E27FC236}">
                <a16:creationId xmlns:a16="http://schemas.microsoft.com/office/drawing/2014/main" id="{D549469D-81AF-D740-98CF-97B6E83D243C}"/>
              </a:ext>
            </a:extLst>
          </p:cNvPr>
          <p:cNvSpPr txBox="1"/>
          <p:nvPr/>
        </p:nvSpPr>
        <p:spPr>
          <a:xfrm>
            <a:off x="48984" y="8439755"/>
            <a:ext cx="2619628" cy="707886"/>
          </a:xfrm>
          <a:prstGeom prst="rect">
            <a:avLst/>
          </a:prstGeom>
          <a:noFill/>
        </p:spPr>
        <p:txBody>
          <a:bodyPr wrap="none" rtlCol="0">
            <a:spAutoFit/>
          </a:bodyPr>
          <a:lstStyle/>
          <a:p>
            <a:r>
              <a:rPr lang="en-US" sz="800" dirty="0"/>
              <a:t>Contact:</a:t>
            </a:r>
          </a:p>
          <a:p>
            <a:r>
              <a:rPr lang="en-US" sz="800" dirty="0"/>
              <a:t>Skip Van </a:t>
            </a:r>
            <a:r>
              <a:rPr lang="en-US" sz="800" dirty="0" err="1"/>
              <a:t>Bloem</a:t>
            </a:r>
            <a:r>
              <a:rPr lang="en-US" sz="800" dirty="0"/>
              <a:t>, Clemson U, </a:t>
            </a:r>
            <a:r>
              <a:rPr lang="en-US" sz="800" dirty="0" err="1"/>
              <a:t>skipvb@clemson.edu</a:t>
            </a:r>
            <a:r>
              <a:rPr lang="en-US" sz="800" dirty="0"/>
              <a:t> </a:t>
            </a:r>
          </a:p>
          <a:p>
            <a:r>
              <a:rPr lang="en-US" sz="800" dirty="0"/>
              <a:t>Nirav Merchant, U Arizona, </a:t>
            </a:r>
            <a:r>
              <a:rPr lang="en-US" sz="800" dirty="0" err="1"/>
              <a:t>nirav@email.arizona.edu</a:t>
            </a:r>
            <a:r>
              <a:rPr lang="en-US" sz="800" dirty="0"/>
              <a:t> </a:t>
            </a:r>
          </a:p>
          <a:p>
            <a:r>
              <a:rPr lang="en-US" sz="800" dirty="0"/>
              <a:t>Will Ambrose, Coastal Carolina U, </a:t>
            </a:r>
            <a:r>
              <a:rPr lang="en-US" sz="800" dirty="0" err="1"/>
              <a:t>wambrose@coastal.edu</a:t>
            </a:r>
            <a:endParaRPr lang="en-US" sz="800" dirty="0"/>
          </a:p>
          <a:p>
            <a:r>
              <a:rPr lang="en-US" sz="800" dirty="0"/>
              <a:t>Hank Loescher, Battelle, </a:t>
            </a:r>
            <a:r>
              <a:rPr lang="en-US" sz="800" dirty="0" err="1"/>
              <a:t>hloescher@battelleecology.org</a:t>
            </a:r>
            <a:endParaRPr lang="en-US" sz="800" dirty="0"/>
          </a:p>
        </p:txBody>
      </p:sp>
      <p:sp>
        <p:nvSpPr>
          <p:cNvPr id="20" name="TextBox 19">
            <a:extLst>
              <a:ext uri="{FF2B5EF4-FFF2-40B4-BE49-F238E27FC236}">
                <a16:creationId xmlns:a16="http://schemas.microsoft.com/office/drawing/2014/main" id="{0C6D908D-3AE2-4543-AAC3-BFBE5F66DAB8}"/>
              </a:ext>
            </a:extLst>
          </p:cNvPr>
          <p:cNvSpPr txBox="1"/>
          <p:nvPr/>
        </p:nvSpPr>
        <p:spPr>
          <a:xfrm>
            <a:off x="99269" y="1078594"/>
            <a:ext cx="6624886" cy="461665"/>
          </a:xfrm>
          <a:prstGeom prst="rect">
            <a:avLst/>
          </a:prstGeom>
          <a:gradFill flip="none" rotWithShape="1">
            <a:gsLst>
              <a:gs pos="0">
                <a:schemeClr val="accent1">
                  <a:lumMod val="5000"/>
                  <a:lumOff val="95000"/>
                </a:schemeClr>
              </a:gs>
              <a:gs pos="74000">
                <a:srgbClr val="0070C0"/>
              </a:gs>
              <a:gs pos="83000">
                <a:srgbClr val="0070C0"/>
              </a:gs>
              <a:gs pos="99000">
                <a:schemeClr val="accent5">
                  <a:lumMod val="75000"/>
                </a:schemeClr>
              </a:gs>
            </a:gsLst>
            <a:lin ang="5400000" scaled="1"/>
            <a:tileRect/>
          </a:gra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bIns="137160" rtlCol="0" anchor="b" anchorCtr="0">
            <a:spAutoFit/>
          </a:bodyPr>
          <a:lstStyle/>
          <a:p>
            <a:pPr algn="ctr"/>
            <a:r>
              <a:rPr lang="en-US" dirty="0">
                <a:solidFill>
                  <a:schemeClr val="tx1"/>
                </a:solidFill>
                <a:latin typeface="Avenir" panose="02000503020000020003" pitchFamily="2" charset="0"/>
              </a:rPr>
              <a:t>[Draft] </a:t>
            </a:r>
            <a:r>
              <a:rPr lang="en-US" dirty="0">
                <a:latin typeface="Avenir" panose="02000503020000020003" pitchFamily="2" charset="0"/>
              </a:rPr>
              <a:t>Coastal Grand Challenge Questions </a:t>
            </a:r>
          </a:p>
        </p:txBody>
      </p:sp>
      <p:sp>
        <p:nvSpPr>
          <p:cNvPr id="24" name="TextBox 23">
            <a:extLst>
              <a:ext uri="{FF2B5EF4-FFF2-40B4-BE49-F238E27FC236}">
                <a16:creationId xmlns:a16="http://schemas.microsoft.com/office/drawing/2014/main" id="{143CDB00-D189-C94F-AC66-D88627CF5030}"/>
              </a:ext>
            </a:extLst>
          </p:cNvPr>
          <p:cNvSpPr txBox="1"/>
          <p:nvPr/>
        </p:nvSpPr>
        <p:spPr>
          <a:xfrm>
            <a:off x="112706" y="1606623"/>
            <a:ext cx="6611449" cy="4893647"/>
          </a:xfrm>
          <a:prstGeom prst="rect">
            <a:avLst/>
          </a:prstGeom>
          <a:noFill/>
        </p:spPr>
        <p:txBody>
          <a:bodyPr wrap="square">
            <a:spAutoFit/>
          </a:bodyPr>
          <a:lstStyle/>
          <a:p>
            <a:r>
              <a:rPr lang="en-US" sz="1200" b="1" i="1" dirty="0">
                <a:latin typeface="Arial" panose="020B0604020202020204" pitchFamily="34" charset="0"/>
                <a:cs typeface="Arial" panose="020B0604020202020204" pitchFamily="34" charset="0"/>
              </a:rPr>
              <a:t>GC1: Uncertainties in Coastal Ecosystem Processes</a:t>
            </a:r>
            <a:r>
              <a:rPr lang="en-US" sz="1200" dirty="0">
                <a:latin typeface="Arial" panose="020B0604020202020204" pitchFamily="34" charset="0"/>
                <a:cs typeface="Arial" panose="020B0604020202020204" pitchFamily="34" charset="0"/>
              </a:rPr>
              <a:t>: How will coastal ecosystems [of the United States] and their components respond to changes in natural- and human-induced drivers such as climate, sea level rise, saltwater intrusion, extreme events, and intensifying storms and inland flooding, across a range of spatial and temporal scales? And, what is the pace and pattern of these responses? </a:t>
            </a:r>
            <a:endParaRPr lang="en-US" sz="1200" dirty="0">
              <a:highlight>
                <a:srgbClr val="00FF00"/>
              </a:highlight>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a:t>
            </a:r>
          </a:p>
          <a:p>
            <a:r>
              <a:rPr lang="en-US" sz="1200" b="1" i="1" dirty="0">
                <a:latin typeface="Arial" panose="020B0604020202020204" pitchFamily="34" charset="0"/>
                <a:cs typeface="Arial" panose="020B0604020202020204" pitchFamily="34" charset="0"/>
              </a:rPr>
              <a:t>GC2: Internal Feedbacks in Coastal Processes</a:t>
            </a:r>
            <a:r>
              <a:rPr lang="en-US" sz="1200" dirty="0">
                <a:latin typeface="Arial" panose="020B0604020202020204" pitchFamily="34" charset="0"/>
                <a:cs typeface="Arial" panose="020B0604020202020204" pitchFamily="34" charset="0"/>
              </a:rPr>
              <a:t>: How do the internal responses and feedbacks of coastal processes such as, biogeochemistry, ecohydrology, and structure and function interact with changes in climate, sea-level rise, saltwater intrusion, magnitude and periodicity of extreme events? How do coastal biogeochemical cycles evolve? And, how do these feedbacks vary with ecological context and spatial and temporal scales?</a:t>
            </a:r>
            <a:endParaRPr lang="en-US" sz="1200" dirty="0">
              <a:highlight>
                <a:srgbClr val="00FF00"/>
              </a:highlight>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a:t>
            </a:r>
          </a:p>
          <a:p>
            <a:r>
              <a:rPr lang="en-US" sz="1200" b="1" i="1" dirty="0">
                <a:latin typeface="Arial" panose="020B0604020202020204" pitchFamily="34" charset="0"/>
                <a:cs typeface="Arial" panose="020B0604020202020204" pitchFamily="34" charset="0"/>
              </a:rPr>
              <a:t>GC3: Coastal Vulnerability:</a:t>
            </a:r>
            <a:r>
              <a:rPr lang="en-US" sz="1200" dirty="0">
                <a:latin typeface="Arial" panose="020B0604020202020204" pitchFamily="34" charset="0"/>
                <a:cs typeface="Arial" panose="020B0604020202020204" pitchFamily="34" charset="0"/>
              </a:rPr>
              <a:t> How stable, resilient, and resistant are coastal ecosystem processes with changing natural and anthropogenic drivers?  How do we estimate tipping points that would transform a coastal ecosystem to a different state? Which coastal processes are particularly vulnerable to rapid and/or sustained changes and how do they scale?</a:t>
            </a:r>
            <a:endParaRPr lang="en-US" sz="1200" dirty="0">
              <a:highlight>
                <a:srgbClr val="00FF00"/>
              </a:highlight>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a:t>
            </a:r>
          </a:p>
          <a:p>
            <a:r>
              <a:rPr lang="en-US" sz="1200" b="1" i="1" dirty="0">
                <a:latin typeface="Arial" panose="020B0604020202020204" pitchFamily="34" charset="0"/>
                <a:cs typeface="Arial" panose="020B0604020202020204" pitchFamily="34" charset="0"/>
              </a:rPr>
              <a:t>GC4: Social Dimension</a:t>
            </a:r>
            <a:r>
              <a:rPr lang="en-US" sz="1200" dirty="0">
                <a:latin typeface="Arial" panose="020B0604020202020204" pitchFamily="34" charset="0"/>
                <a:cs typeface="Arial" panose="020B0604020202020204" pitchFamily="34" charset="0"/>
              </a:rPr>
              <a:t>: How do changes in coastal ecosystem processes affect Coastal Economies? How do the internal coastal ecosystem responses and feedbacks affect Coastal Economies?  How do they scale from local to region? </a:t>
            </a:r>
            <a:endParaRPr lang="en-US" sz="1200" dirty="0">
              <a:highlight>
                <a:srgbClr val="00FF00"/>
              </a:highlight>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a:t>
            </a:r>
          </a:p>
          <a:p>
            <a:r>
              <a:rPr lang="en-US" sz="1200" b="1" i="1" dirty="0">
                <a:latin typeface="Arial" panose="020B0604020202020204" pitchFamily="34" charset="0"/>
                <a:cs typeface="Arial" panose="020B0604020202020204" pitchFamily="34" charset="0"/>
              </a:rPr>
              <a:t>GC5: Challenging Theory and Model Predictability</a:t>
            </a:r>
            <a:r>
              <a:rPr lang="en-US" sz="1200" dirty="0">
                <a:latin typeface="Arial" panose="020B0604020202020204" pitchFamily="34" charset="0"/>
                <a:cs typeface="Arial" panose="020B0604020202020204" pitchFamily="34" charset="0"/>
              </a:rPr>
              <a:t>: How does theory and observations inform our understanding of coastal socio-ecological systems? And how can this enhanced understanding be challenged and improved by a modelled predictive capability?  How do these models inform new observations or other required data for improved understandings of the coastal critical zone?</a:t>
            </a:r>
            <a:endParaRPr lang="en-US" sz="800" dirty="0">
              <a:highlight>
                <a:srgbClr val="00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81779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6769</TotalTime>
  <Words>1091</Words>
  <Application>Microsoft Macintosh PowerPoint</Application>
  <PresentationFormat>Letter Paper (8.5x11 in)</PresentationFormat>
  <Paragraphs>91</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Avenir</vt:lpstr>
      <vt:lpstr>Calibri</vt:lpstr>
      <vt:lpstr>Calibri Light</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Hank Loescher (US)</dc:creator>
  <cp:lastModifiedBy>Skip Judson Van Bloem</cp:lastModifiedBy>
  <cp:revision>76</cp:revision>
  <dcterms:created xsi:type="dcterms:W3CDTF">2022-05-13T15:31:42Z</dcterms:created>
  <dcterms:modified xsi:type="dcterms:W3CDTF">2022-05-27T04:45:30Z</dcterms:modified>
</cp:coreProperties>
</file>